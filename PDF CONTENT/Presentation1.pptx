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56" r:id="rId3"/>
    <p:sldId id="258" r:id="rId4"/>
    <p:sldId id="259" r:id="rId5"/>
    <p:sldId id="270" r:id="rId6"/>
    <p:sldId id="267" r:id="rId7"/>
    <p:sldId id="265" r:id="rId8"/>
    <p:sldId id="266" r:id="rId9"/>
    <p:sldId id="26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50AA17-E0CF-45CB-9479-CC717F05F795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2C0CD-957D-4E07-904A-9F8A76861E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107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5A248-BE40-810B-FE8E-93D2F378F6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A6379F-4844-D9CF-ACA3-C7E82D1703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D4E16-3E21-F259-BCCD-AD60E3AAC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0C9A6-5796-4F87-BB5D-72A75F71BE6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349B2-DEB0-5E61-4FD1-F1EF7A392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54167-343A-D747-29BF-08666BED2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11ABB-2B56-4486-8CDB-4144F7A91B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7117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CEAED-DE89-320B-E42A-4CFE98EF7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51172-8A2A-2CA5-E148-28FB5041A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2A03F-508C-DA8E-9B9A-56F2E85B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0C9A6-5796-4F87-BB5D-72A75F71BE6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BAC07-4915-D0FD-57E6-1B4515490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F6FF5-327A-E14B-0D07-259A55407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11ABB-2B56-4486-8CDB-4144F7A91B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8585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A4ABA-ED0E-4708-D5BC-13B91C7AB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232CE0-6AF1-0008-EE82-E38C64734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604EC-B7F7-BAE8-7084-61280D6A4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0C9A6-5796-4F87-BB5D-72A75F71BE6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11BD3-8BE6-90AC-7787-8BDE1CF08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3770AF-BBEF-12DE-9156-8C3802241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11ABB-2B56-4486-8CDB-4144F7A91B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252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153CE-B52D-35D2-3F7C-9E395902B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8FBAB-B4F8-B454-E2FB-0C8E35BC81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6251E9-9CB1-1EAE-1497-23ADAE26E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79702B-4FDA-1758-1752-579850E20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0C9A6-5796-4F87-BB5D-72A75F71BE6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9350B6-F1B0-431F-00C9-5419A1995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DC2AA5-C566-A70D-0BA2-44D05442F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11ABB-2B56-4486-8CDB-4144F7A91B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940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FEC41-854C-99D1-C029-3AF487617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12F876-45B4-CEF9-11FC-C7EDCC513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3B4572-5C51-77A8-A4F1-AF3438B53B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59B3AC-5984-F340-30E9-C05BCBBDD2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020A69-7599-EB59-8C4D-2144C7605B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5FCB85-9CDE-7AE4-1345-EC15EC31B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0C9A6-5796-4F87-BB5D-72A75F71BE6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127284-AA62-39C1-EAC9-050ADE2B6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529C2A-A329-0937-E731-F448C0B4B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11ABB-2B56-4486-8CDB-4144F7A91B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028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ECCCD-486E-F966-1E47-0E2B325F2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FF343F-3FED-E0D5-EFD4-467909480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0C9A6-5796-4F87-BB5D-72A75F71BE6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C14FDC-7C55-7DEE-6D1F-9033C9C5C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EAE453-0C52-B978-AF76-93652AD49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11ABB-2B56-4486-8CDB-4144F7A91B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6534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440952-A71E-12BE-19E1-CEE6965C5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0C9A6-5796-4F87-BB5D-72A75F71BE6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D06911-EEB6-233D-D62F-7798D2546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64E5C-79B3-6CCB-19E4-E6E9E87C6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11ABB-2B56-4486-8CDB-4144F7A91B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189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44713-3138-949E-B687-059FAD56B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7F83F-FC0D-E41B-E5ED-399352D04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4851C8-7378-31B9-1800-F6DAB63588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9CC162-7F90-0CE6-7E8D-577E7353D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0C9A6-5796-4F87-BB5D-72A75F71BE6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5DE22C-8467-54C2-4BD1-AEAA4B41F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7CF8FA-94E3-48A4-2BD3-E654E71B1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11ABB-2B56-4486-8CDB-4144F7A91B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002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B1FD5-6746-9BF8-7203-9B570116E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6F19A8-2DC0-65CE-19CE-097F6E782B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4E412D-E2B3-B7B4-2777-DFCEA819E6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BFE7B0-072E-9101-7965-C24DF7B63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0C9A6-5796-4F87-BB5D-72A75F71BE6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524F9B-F267-1024-C223-8193FFDBF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0923CD-AE74-D231-B7E0-2BBAC619B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11ABB-2B56-4486-8CDB-4144F7A91B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5359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48CEB-7499-EDE7-83D9-13CBD4098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752E87-74B6-66B2-3BD9-AA55E2078B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09634-4742-79BC-4EFA-01E4FAFF0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0C9A6-5796-4F87-BB5D-72A75F71BE6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544FB-AF21-36FB-60B6-C1EE1FDA3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F18A7-60D3-4B89-82B2-3BD47CBDD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11ABB-2B56-4486-8CDB-4144F7A91B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788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A8FE59-1995-D2E2-BABC-72C786103B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19CBF1-A215-CAE8-376C-8663685A75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E4D65-6E46-2CA0-54F8-A1AE71616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0C9A6-5796-4F87-BB5D-72A75F71BE6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AFA32-93D9-9D9D-C92E-3A1FCFB6A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63009-F886-063C-CA4F-B2F87D624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11ABB-2B56-4486-8CDB-4144F7A91B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224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408795-73F8-F95B-5129-FF78D14D3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AFA57B-C579-BF79-0709-BB0557792F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7314B-409A-8F87-3023-781733B073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80C9A6-5796-4F87-BB5D-72A75F71BE6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5F066-3BE4-BABF-2C51-04998B14E9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A4417-69AD-6DCD-AAB9-680137A601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F11ABB-2B56-4486-8CDB-4144F7A91B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053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4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1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A9AD54E-1482-D7CA-B4C6-FAEBE76D2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293746" cy="10607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086145-D50C-7F2E-46CA-AFD4F41198F1}"/>
              </a:ext>
            </a:extLst>
          </p:cNvPr>
          <p:cNvSpPr txBox="1"/>
          <p:nvPr/>
        </p:nvSpPr>
        <p:spPr>
          <a:xfrm>
            <a:off x="2293746" y="207186"/>
            <a:ext cx="65233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chemeClr val="accent2"/>
                </a:solidFill>
              </a:rPr>
              <a:t>VITB-JHU Health-Hack  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ED6B2B-D42D-9961-661E-AA089549F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1452" y="152416"/>
            <a:ext cx="2964352" cy="106070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7BC71D1-FCE2-E250-5B46-5E7118B89F43}"/>
              </a:ext>
            </a:extLst>
          </p:cNvPr>
          <p:cNvSpPr txBox="1"/>
          <p:nvPr/>
        </p:nvSpPr>
        <p:spPr>
          <a:xfrm>
            <a:off x="735291" y="2202837"/>
            <a:ext cx="11250513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dirty="0">
                <a:solidFill>
                  <a:srgbClr val="3366FF"/>
                </a:solidFill>
                <a:latin typeface="Bahnschrift SemiBold" panose="020B0502040204020203" pitchFamily="34" charset="0"/>
              </a:rPr>
              <a:t>Problem Statement Title : </a:t>
            </a:r>
            <a:r>
              <a:rPr lang="en-US" sz="2400" dirty="0">
                <a:latin typeface="Bodoni MT" panose="02070603080606020203" pitchFamily="18" charset="0"/>
              </a:rPr>
              <a:t>Health Risks That Hide in Plain Sight</a:t>
            </a:r>
          </a:p>
          <a:p>
            <a:endParaRPr lang="en-IN" sz="2400" dirty="0">
              <a:solidFill>
                <a:srgbClr val="3366FF"/>
              </a:solidFill>
              <a:latin typeface="Bodoni MT" panose="02070603080606020203" pitchFamily="18" charset="0"/>
            </a:endParaRPr>
          </a:p>
          <a:p>
            <a:r>
              <a:rPr lang="en-IN" sz="2600" dirty="0">
                <a:solidFill>
                  <a:srgbClr val="3366FF"/>
                </a:solidFill>
                <a:latin typeface="Bahnschrift SemiBold" panose="020B0502040204020203" pitchFamily="34" charset="0"/>
              </a:rPr>
              <a:t>Theme : </a:t>
            </a:r>
            <a:r>
              <a:rPr lang="en-US" sz="2400" dirty="0">
                <a:latin typeface="Bodoni MT" panose="02070603080606020203" pitchFamily="18" charset="0"/>
              </a:rPr>
              <a:t>ASHA-Driven Digital Health: Predictive, Preventive &amp; Connected</a:t>
            </a:r>
            <a:endParaRPr lang="en-IN" sz="2400" dirty="0">
              <a:solidFill>
                <a:srgbClr val="3366FF"/>
              </a:solidFill>
              <a:latin typeface="Bodoni MT" panose="02070603080606020203" pitchFamily="18" charset="0"/>
            </a:endParaRPr>
          </a:p>
          <a:p>
            <a:endParaRPr lang="en-IN" sz="2600" dirty="0">
              <a:solidFill>
                <a:srgbClr val="3366FF"/>
              </a:solidFill>
              <a:latin typeface="Bahnschrift SemiBold" panose="020B0502040204020203" pitchFamily="34" charset="0"/>
            </a:endParaRPr>
          </a:p>
          <a:p>
            <a:r>
              <a:rPr lang="en-IN" sz="2600" dirty="0">
                <a:solidFill>
                  <a:srgbClr val="3366FF"/>
                </a:solidFill>
                <a:latin typeface="Bahnschrift SemiBold" panose="020B0502040204020203" pitchFamily="34" charset="0"/>
              </a:rPr>
              <a:t>Category : </a:t>
            </a:r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Bodoni MT" panose="02070603080606020203" pitchFamily="18" charset="0"/>
              </a:rPr>
              <a:t>SOFTWARE</a:t>
            </a:r>
          </a:p>
          <a:p>
            <a:endParaRPr lang="en-IN" sz="2600" dirty="0">
              <a:solidFill>
                <a:srgbClr val="3366FF"/>
              </a:solidFill>
              <a:latin typeface="Bahnschrift SemiBold" panose="020B0502040204020203" pitchFamily="34" charset="0"/>
            </a:endParaRPr>
          </a:p>
          <a:p>
            <a:r>
              <a:rPr lang="en-IN" sz="2600" dirty="0">
                <a:solidFill>
                  <a:srgbClr val="3366FF"/>
                </a:solidFill>
                <a:latin typeface="Bahnschrift SemiBold" panose="020B0502040204020203" pitchFamily="34" charset="0"/>
              </a:rPr>
              <a:t>Team Name : </a:t>
            </a:r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Bodoni MT" panose="02070603080606020203" pitchFamily="18" charset="0"/>
              </a:rPr>
              <a:t>MATERNOVA</a:t>
            </a:r>
          </a:p>
          <a:p>
            <a:endParaRPr lang="en-IN" sz="2600" dirty="0">
              <a:solidFill>
                <a:srgbClr val="3366FF"/>
              </a:solidFill>
              <a:latin typeface="Bahnschrift SemiBold" panose="020B0502040204020203" pitchFamily="34" charset="0"/>
            </a:endParaRPr>
          </a:p>
          <a:p>
            <a:r>
              <a:rPr lang="en-IN" sz="2600" dirty="0">
                <a:solidFill>
                  <a:srgbClr val="3366FF"/>
                </a:solidFill>
                <a:latin typeface="Bahnschrift SemiBold" panose="020B0502040204020203" pitchFamily="34" charset="0"/>
              </a:rPr>
              <a:t>University Name : </a:t>
            </a:r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Bodoni MT" panose="02070603080606020203" pitchFamily="18" charset="0"/>
              </a:rPr>
              <a:t>VIT BHOPAL UNIVERSITY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30DF0E2-3F3F-F742-6EA2-02FA73D6AD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4387" y="6144802"/>
            <a:ext cx="8681976" cy="506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11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19287"/>
            <a:ext cx="2547937" cy="397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title="Screenshot 2025-11-15 070557.png"/>
          <p:cNvPicPr preferRelativeResize="0"/>
          <p:nvPr/>
        </p:nvPicPr>
        <p:blipFill rotWithShape="1">
          <a:blip r:embed="rId5">
            <a:alphaModFix/>
          </a:blip>
          <a:srcRect l="876" t="-2798" r="14892" b="77791"/>
          <a:stretch/>
        </p:blipFill>
        <p:spPr>
          <a:xfrm>
            <a:off x="3754388" y="2005775"/>
            <a:ext cx="1735250" cy="82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1919287"/>
            <a:ext cx="2547937" cy="397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72562" y="1919287"/>
            <a:ext cx="2547937" cy="39719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817840" y="2900362"/>
            <a:ext cx="2055256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Fragmented Data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866775" y="3881437"/>
            <a:ext cx="1957387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Manual, paper-based records are slow, prone to errors, and inaccessible in emergencies, creating data silos.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3651527" y="2900362"/>
            <a:ext cx="2055256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Delayed Risk Detection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3700462" y="3881437"/>
            <a:ext cx="1957387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High-risk complications in pregnancy, infancy, and old age are often identified too late due to a lack of proactive analysis.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485215" y="2900362"/>
            <a:ext cx="2055256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Disconnected Care Teams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534150" y="3881437"/>
            <a:ext cx="1957387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Doctors, ASHA workers, and caretakers lack a single source of truth, leading to communication gaps and missed checkups.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9318902" y="2900362"/>
            <a:ext cx="2055256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Emergency Response Gaps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9367837" y="3881437"/>
            <a:ext cx="1957387" cy="154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Caretakers lack immediate, reliable guidance during critical emergencies before professional help can arrive.</a:t>
            </a:r>
            <a:endParaRPr/>
          </a:p>
        </p:txBody>
      </p:sp>
      <p:pic>
        <p:nvPicPr>
          <p:cNvPr id="97" name="Google Shape;97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674018" y="2233612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227093" y="223361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060781" y="2233612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3"/>
          <p:cNvSpPr txBox="1"/>
          <p:nvPr/>
        </p:nvSpPr>
        <p:spPr>
          <a:xfrm>
            <a:off x="295275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Problem: A Fragmented &amp; Reactive System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81187"/>
            <a:ext cx="2547937" cy="40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5187" y="1881187"/>
            <a:ext cx="2547937" cy="40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1881187"/>
            <a:ext cx="2547937" cy="40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72562" y="1881187"/>
            <a:ext cx="2547937" cy="404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817840" y="2862262"/>
            <a:ext cx="2055256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Digital Data Capture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66775" y="3843337"/>
            <a:ext cx="1957387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simple app for ASHA workers to collect vital health data (offline &amp; online) for women, infants, and the elderly.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3651527" y="2862262"/>
            <a:ext cx="2055256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AI-Powered Insights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3700462" y="3843337"/>
            <a:ext cx="1957387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 AI engine analyzes data to provide early risk alerts, simple medication suggestions, and lifestyle precautions.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485215" y="2862262"/>
            <a:ext cx="2055256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Connected Care Portals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534150" y="3843337"/>
            <a:ext cx="1957387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Dedicated portals for doctors (to supervise &amp; intervene) and caretakers (to view precautions &amp; reminders).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9318902" y="2862262"/>
            <a:ext cx="2055256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Instant Emergency Module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9367837" y="4176712"/>
            <a:ext cx="1957387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Provides immediate first-aid instructions and voice guidance to caretakers during critical health emergencies.</a:t>
            </a:r>
            <a:endParaRPr/>
          </a:p>
        </p:txBody>
      </p:sp>
      <p:pic>
        <p:nvPicPr>
          <p:cNvPr id="118" name="Google Shape;118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674018" y="2195512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431506" y="2176462"/>
            <a:ext cx="4953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312818" y="219551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146506" y="2195512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4"/>
          <p:cNvSpPr txBox="1"/>
          <p:nvPr/>
        </p:nvSpPr>
        <p:spPr>
          <a:xfrm>
            <a:off x="295275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Our Solution: A Unified Digital Ecosystem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1857375" y="2247900"/>
            <a:ext cx="90011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From Reactive to Proactive: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AI predicts risk *before* it becomes critical. It suggests preventative actions, not just logs data, moving healthcare from reactive to proactive.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1857375" y="3076575"/>
            <a:ext cx="90011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360° Care Loop: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This is the first system to connect the ASHA worker, doctor, and caretaker in a single, real-time feedback loop under NGO/doctor supervision.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1857375" y="3905250"/>
            <a:ext cx="90011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Empowering ASHA Workers: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platform elevates ASHA workers from simple data collectors to digitally-empowered community health advocates with AI-backed insights.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1857375" y="4733925"/>
            <a:ext cx="90011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Closing the Emergency Gap: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integrated emergency module provides critical, life-saving guidance in the crucial minutes *before* professional help can arrive.</a:t>
            </a:r>
            <a:endParaRPr/>
          </a:p>
        </p:txBody>
      </p:sp>
      <p:pic>
        <p:nvPicPr>
          <p:cNvPr id="132" name="Google Shape;13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2295525"/>
            <a:ext cx="33337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3500" y="3124200"/>
            <a:ext cx="33337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33500" y="3952875"/>
            <a:ext cx="33337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33500" y="4781550"/>
            <a:ext cx="33337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/>
        </p:nvSpPr>
        <p:spPr>
          <a:xfrm>
            <a:off x="295275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Our Uniqueness &amp; Innovation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24000"/>
            <a:ext cx="2619375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81375" y="1524000"/>
            <a:ext cx="2619375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1250" y="1524000"/>
            <a:ext cx="2619375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01125" y="1524000"/>
            <a:ext cx="2619375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000500"/>
            <a:ext cx="2619375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81375" y="4000500"/>
            <a:ext cx="2619375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1250" y="4000500"/>
            <a:ext cx="2619375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819150" y="2314575"/>
            <a:ext cx="106013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Front-end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819150" y="2838450"/>
            <a:ext cx="212407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React Native, Flutter, HTML5, CSS3, JS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3629025" y="2314575"/>
            <a:ext cx="1030128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Back-end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3629025" y="2838450"/>
            <a:ext cx="212407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Python/Django, Node.js, Java/Spring Boot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6438900" y="2314575"/>
            <a:ext cx="102012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Database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6438900" y="2838450"/>
            <a:ext cx="19907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PostgreSQL, MongoDB, MySQL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9248775" y="2314575"/>
            <a:ext cx="66008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AI / ML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9248775" y="2838450"/>
            <a:ext cx="212407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TensorFlow, PyTorch, scikit-learn, NLP frameworks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819150" y="4791075"/>
            <a:ext cx="155019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Cloud Services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819150" y="5314950"/>
            <a:ext cx="16287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AWS, Google Cloud, Azure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3629025" y="4791075"/>
            <a:ext cx="88011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Security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3629025" y="5314950"/>
            <a:ext cx="212407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OAuth2, JWT, SSL/TLS, AES-256 encryption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6438900" y="4791075"/>
            <a:ext cx="800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DevOps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6438900" y="5314950"/>
            <a:ext cx="212407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Docker, Kubernetes, CI/CD pipelines, Prometheus/Grafana</a:t>
            </a:r>
            <a:endParaRPr/>
          </a:p>
        </p:txBody>
      </p:sp>
      <p:pic>
        <p:nvPicPr>
          <p:cNvPr id="106" name="Google Shape;106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9150" y="179070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629025" y="179070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38900" y="1790700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248775" y="179070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19150" y="4267200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3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629025" y="426720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3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438900" y="4267200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3"/>
          <p:cNvSpPr txBox="1"/>
          <p:nvPr/>
        </p:nvSpPr>
        <p:spPr>
          <a:xfrm>
            <a:off x="295275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Core Technology Stack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62125"/>
            <a:ext cx="5334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762125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571500" y="5762625"/>
            <a:ext cx="5334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F73"/>
                </a:solidFill>
                <a:latin typeface="Lato"/>
                <a:ea typeface="Lato"/>
                <a:cs typeface="Lato"/>
                <a:sym typeface="Lato"/>
              </a:rPr>
              <a:t>Emergency Module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286500" y="5762625"/>
            <a:ext cx="5334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F73"/>
                </a:solidFill>
                <a:latin typeface="Lato"/>
                <a:ea typeface="Lato"/>
                <a:cs typeface="Lato"/>
                <a:sym typeface="Lato"/>
              </a:rPr>
              <a:t>Data Module</a:t>
            </a:r>
            <a:endParaRPr/>
          </a:p>
        </p:txBody>
      </p:sp>
      <p:pic>
        <p:nvPicPr>
          <p:cNvPr id="89" name="Google Shape;89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1771650"/>
            <a:ext cx="5314950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96025" y="1771650"/>
            <a:ext cx="5314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5F73"/>
                </a:solidFill>
                <a:latin typeface="Poppins"/>
                <a:ea typeface="Poppins"/>
                <a:cs typeface="Poppins"/>
                <a:sym typeface="Poppins"/>
              </a:rPr>
              <a:t>Project Modules Overview</a:t>
            </a:r>
            <a:endParaRPr/>
          </a:p>
        </p:txBody>
      </p:sp>
      <p:pic>
        <p:nvPicPr>
          <p:cNvPr id="5" name="Picture 4" descr="A diagram of a medical system&#10;&#10;AI-generated content may be incorrect.">
            <a:extLst>
              <a:ext uri="{FF2B5EF4-FFF2-40B4-BE49-F238E27FC236}">
                <a16:creationId xmlns:a16="http://schemas.microsoft.com/office/drawing/2014/main" id="{662B10A3-EBFF-E84A-C2CD-B10EE5CA6C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0" y="1771650"/>
            <a:ext cx="5334000" cy="3790950"/>
          </a:xfrm>
          <a:prstGeom prst="rect">
            <a:avLst/>
          </a:prstGeom>
        </p:spPr>
      </p:pic>
      <p:pic>
        <p:nvPicPr>
          <p:cNvPr id="7" name="Picture 6" descr="A diagram of emergency help&#10;&#10;AI-generated content may be incorrect.">
            <a:extLst>
              <a:ext uri="{FF2B5EF4-FFF2-40B4-BE49-F238E27FC236}">
                <a16:creationId xmlns:a16="http://schemas.microsoft.com/office/drawing/2014/main" id="{734CDE45-6AD8-B230-2A92-9B29E55B043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5008" y="1771650"/>
            <a:ext cx="5460492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83196"/>
            <a:ext cx="53340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283196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571500" y="5093196"/>
            <a:ext cx="56007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1. Secure, Role-Based Access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5588496"/>
            <a:ext cx="5334000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platform begins with a simple login. Users identify as an ASHA Worker, Doctor, or Caretaker and use a 6-digit Patient Code, ensuring secure and role-specific access.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286500" y="5093196"/>
            <a:ext cx="56007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2. AASHA Data Collection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286500" y="5588496"/>
            <a:ext cx="5334000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AASHA workers use a clean dashboard to manage patients. They can view key patient info and easily add new checkup details, vitals, and symptoms directly from the field.</a:t>
            </a:r>
            <a:endParaRPr/>
          </a:p>
        </p:txBody>
      </p:sp>
      <p:pic>
        <p:nvPicPr>
          <p:cNvPr id="91" name="Google Shape;91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1292721"/>
            <a:ext cx="5314950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96025" y="1292721"/>
            <a:ext cx="53149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295275" y="330696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ASHA Connect Workflow: Entry &amp; Data Collection</a:t>
            </a:r>
            <a:endParaRPr/>
          </a:p>
        </p:txBody>
      </p:sp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2EBDAB1-5FD1-4E59-C1FD-9192DDA581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6" y="1309348"/>
            <a:ext cx="5314950" cy="3583823"/>
          </a:xfrm>
          <a:prstGeom prst="rect">
            <a:avLst/>
          </a:prstGeom>
        </p:spPr>
      </p:pic>
      <p:pic>
        <p:nvPicPr>
          <p:cNvPr id="5" name="Picture 4" descr="A screenshot of a checkup&#10;&#10;AI-generated content may be incorrect.">
            <a:extLst>
              <a:ext uri="{FF2B5EF4-FFF2-40B4-BE49-F238E27FC236}">
                <a16:creationId xmlns:a16="http://schemas.microsoft.com/office/drawing/2014/main" id="{BB791C02-EC9C-FE01-B7BD-C2FA6DCADF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6024" y="1292721"/>
            <a:ext cx="5314949" cy="3638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83196"/>
            <a:ext cx="53340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283196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571500" y="5093196"/>
            <a:ext cx="56007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3. AI Analysis &amp; Doctor Supervision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5588496"/>
            <a:ext cx="5334000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Doctor Dashboard displays the AI's analysis and a suggested recommendation. The doctor has full control to review, edit, and approve the final care plan, ensuring clinical accuracy.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286500" y="5093196"/>
            <a:ext cx="56007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4. Actionable Caretaker Guidance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286500" y="5588496"/>
            <a:ext cx="5334000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Caretaker Dashboard provides a simplified view of the doctor-approved "Precautions &amp; Care" instructions. This closes the loop, delivering actionable health advice to the patient's home.</a:t>
            </a:r>
            <a:endParaRPr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1292721"/>
            <a:ext cx="5314950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96025" y="1292721"/>
            <a:ext cx="53149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295275" y="330696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AI-Powered Care Loop: Analysis &amp; Delivery</a:t>
            </a:r>
            <a:endParaRPr/>
          </a:p>
        </p:txBody>
      </p:sp>
      <p:pic>
        <p:nvPicPr>
          <p:cNvPr id="3" name="Picture 2" descr="A screenshot of a medical survey&#10;&#10;AI-generated content may be incorrect.">
            <a:extLst>
              <a:ext uri="{FF2B5EF4-FFF2-40B4-BE49-F238E27FC236}">
                <a16:creationId xmlns:a16="http://schemas.microsoft.com/office/drawing/2014/main" id="{F7E33C4E-E68C-9957-350F-00333A33DB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4" y="1292721"/>
            <a:ext cx="5333999" cy="3600450"/>
          </a:xfrm>
          <a:prstGeom prst="rect">
            <a:avLst/>
          </a:prstGeom>
        </p:spPr>
      </p:pic>
      <p:pic>
        <p:nvPicPr>
          <p:cNvPr id="5" name="Picture 4" descr="A screenshot of a medical dashboard&#10;&#10;AI-generated content may be incorrect.">
            <a:extLst>
              <a:ext uri="{FF2B5EF4-FFF2-40B4-BE49-F238E27FC236}">
                <a16:creationId xmlns:a16="http://schemas.microsoft.com/office/drawing/2014/main" id="{6A5B207E-793F-5958-1E60-1A41330CCD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6023" y="1232892"/>
            <a:ext cx="5334000" cy="36602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571500" y="3886200"/>
            <a:ext cx="11049000" cy="38100"/>
          </a:xfrm>
          <a:prstGeom prst="roundRect">
            <a:avLst>
              <a:gd name="adj" fmla="val 16667"/>
            </a:avLst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624676" y="4191000"/>
            <a:ext cx="1767095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2C55E"/>
                </a:solidFill>
                <a:latin typeface="Poppins"/>
                <a:ea typeface="Poppins"/>
                <a:cs typeface="Poppins"/>
                <a:sym typeface="Poppins"/>
              </a:rPr>
              <a:t>M1: Requirements &amp; Blueprint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666750" y="5267325"/>
            <a:ext cx="1682948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Activities: ASHA workflows, health metrics, system blueprint. Deliverables: Requirements Doc, flowcharts.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459727" y="1724025"/>
            <a:ext cx="176709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97316"/>
                </a:solidFill>
                <a:latin typeface="Poppins"/>
                <a:ea typeface="Poppins"/>
                <a:cs typeface="Poppins"/>
                <a:sym typeface="Poppins"/>
              </a:rPr>
              <a:t>M2: UI/UX &amp; Database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501800" y="2486025"/>
            <a:ext cx="1682948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Activities: Designing UI, database schemas, cloud setup. Deliverables: UI mockups, DB/API architecture.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4294777" y="4191000"/>
            <a:ext cx="176709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M3: Core Backend Dev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4336851" y="4953000"/>
            <a:ext cx="1682948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Activities: ASHA module, patient codes, basic dashboards. Deliverables: Working backend, basic connectivity.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129828" y="1409700"/>
            <a:ext cx="1767095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8B5CF6"/>
                </a:solidFill>
                <a:latin typeface="Poppins"/>
                <a:ea typeface="Poppins"/>
                <a:cs typeface="Poppins"/>
                <a:sym typeface="Poppins"/>
              </a:rPr>
              <a:t>M4: AI &amp; Emergency Support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171902" y="2486025"/>
            <a:ext cx="1682948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Activities: Build AI for risk alerts, create emergency module. Deliverables: AI Model v1, Emergency Support v1.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7964879" y="4191000"/>
            <a:ext cx="176709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854D0E"/>
                </a:solidFill>
                <a:latin typeface="Poppins"/>
                <a:ea typeface="Poppins"/>
                <a:cs typeface="Poppins"/>
                <a:sym typeface="Poppins"/>
              </a:rPr>
              <a:t>M5: Testing &amp; Field Pilot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8006953" y="4953000"/>
            <a:ext cx="1682948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Activities: Functional/usability testing, AI accuracy testing, pilot in 1-2 villages. Deliverables: Tested system, pilot report.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9799930" y="1724025"/>
            <a:ext cx="176709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M6: Launch &amp; Optimization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9842003" y="2486025"/>
            <a:ext cx="1682948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Activities: Full deployment, fix pilot issues, add multilingual support. Deliverables: Platform launch, support setup.</a:t>
            </a:r>
            <a:endParaRPr/>
          </a:p>
        </p:txBody>
      </p:sp>
      <p:sp>
        <p:nvSpPr>
          <p:cNvPr id="98" name="Google Shape;98;p13"/>
          <p:cNvSpPr/>
          <p:nvPr/>
        </p:nvSpPr>
        <p:spPr>
          <a:xfrm>
            <a:off x="1393924" y="37909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/>
          <p:nvPr/>
        </p:nvSpPr>
        <p:spPr>
          <a:xfrm>
            <a:off x="3228975" y="37909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5064025" y="37909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6899076" y="37909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/>
          <p:nvPr/>
        </p:nvSpPr>
        <p:spPr>
          <a:xfrm>
            <a:off x="8734127" y="37909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854D0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/>
          <p:nvPr/>
        </p:nvSpPr>
        <p:spPr>
          <a:xfrm>
            <a:off x="10569178" y="37909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295275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Project Implementation Roadmap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286000" y="1881187"/>
            <a:ext cx="80962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Partnership: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Strong government and NGO partnerships are essential for scale, legitimacy, and successful integration.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2690812"/>
            <a:ext cx="80962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Doctor Buy-In: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Active supervision and buy-in from medical professionals ensures clinical value and proper oversight.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3500437"/>
            <a:ext cx="80962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Simple UI/UX: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interface must be simple and intuitive for high adoption by ASHA workers, doctors, and caretakers.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286000" y="4310062"/>
            <a:ext cx="80962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Emergency Integration: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Reliable, fast integration with emergency response is critical for building user trust and saving lives.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286000" y="5119687"/>
            <a:ext cx="80962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Training &amp; Support: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Continuous training and support are required to maintain data quality and ensure user engagement.</a:t>
            </a:r>
            <a:endParaRPr/>
          </a:p>
        </p:txBody>
      </p:sp>
      <p:pic>
        <p:nvPicPr>
          <p:cNvPr id="90" name="Google Shape;90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1928812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2738437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3548062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4357687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809750" y="5167312"/>
            <a:ext cx="2857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 txBox="1"/>
          <p:nvPr/>
        </p:nvSpPr>
        <p:spPr>
          <a:xfrm>
            <a:off x="295275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Key Success Factors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62175"/>
            <a:ext cx="2547937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09937" y="2162175"/>
            <a:ext cx="2547937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67175"/>
            <a:ext cx="2547937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09937" y="4067175"/>
            <a:ext cx="2547937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571500" y="1524000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Expected Impact Metrics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334125" y="1524000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Overall Feasibility Rating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334125" y="2352675"/>
            <a:ext cx="528637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8.5/10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334125" y="3590925"/>
            <a:ext cx="52863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Highly Feasible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334125" y="4057650"/>
            <a:ext cx="52863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project addresses critical healthcare gaps by leveraging existing ASHA worker infrastructure, with a clear path to improving community health outcomes through phased implementation.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931068" y="2514600"/>
            <a:ext cx="1828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30-40%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69156" y="3295650"/>
            <a:ext cx="1952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Reduction in missed checkups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3693318" y="2400300"/>
            <a:ext cx="17811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25-35%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3557587" y="3181350"/>
            <a:ext cx="20526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Improvement in early detection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926306" y="4419600"/>
            <a:ext cx="18383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50-60%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954881" y="5200650"/>
            <a:ext cx="17811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Faster emergency guidance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3659981" y="4305300"/>
            <a:ext cx="18478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40-50%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3557587" y="5086350"/>
            <a:ext cx="20526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Reduction in manual record time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295275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Impact Metrics &amp; Feasibility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5" name="Google Shape;85;p13"/>
          <p:cNvGraphicFramePr/>
          <p:nvPr/>
        </p:nvGraphicFramePr>
        <p:xfrm>
          <a:off x="571500" y="2190750"/>
          <a:ext cx="11049000" cy="34290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Challenge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Core Strategy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Enhancement Tactic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Digital Literacy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Simple UI/UX design &amp; comprehensive training for ASHA workers &amp; doctors (M5).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Implement gamification and performance incentives for accurate and consistent data submission.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Network &amp; Connectivity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Mobile app development (M2) with real-time sync capabilities (M3).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Mandate an "Offline-First" architecture to queue data locally. Use SMS/USSD fallback for critical alerts.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Security &amp; Privacy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Full-stack encryption &amp; security (OAuth2, JWT, SSL/TLS, AES-256) on AWS/GCP/Azure.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Enforce strict Role-Based Access Control (RBAC) to ensure users only see data necessary for their role.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Emergency Liability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Emergency module with first-aid instructions and voice guidance (M4).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Include clear, legally-reviewed disclaimers. Ensure all guidance is validated. Geo-locate nearest facility.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6" name="Google Shape;86;p13"/>
          <p:cNvSpPr/>
          <p:nvPr/>
        </p:nvSpPr>
        <p:spPr>
          <a:xfrm>
            <a:off x="571500" y="2681287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3333750" y="2681287"/>
            <a:ext cx="41433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7477125" y="2681287"/>
            <a:ext cx="41433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571500" y="3414712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3333750" y="3414712"/>
            <a:ext cx="41433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7477125" y="3414712"/>
            <a:ext cx="41433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571500" y="4148137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3333750" y="4148137"/>
            <a:ext cx="41433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7477125" y="4148137"/>
            <a:ext cx="41433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571500" y="4881562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3333750" y="4881562"/>
            <a:ext cx="41433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7477125" y="4881562"/>
            <a:ext cx="41433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295275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Mitigation Strategies: Field, System &amp; Technical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4" name="Google Shape;104;p14"/>
          <p:cNvGraphicFramePr/>
          <p:nvPr/>
        </p:nvGraphicFramePr>
        <p:xfrm>
          <a:off x="571500" y="2381250"/>
          <a:ext cx="11049000" cy="30480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Challenge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Core Strategy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Enhancement Tactic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 Quality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Patient code generation (M3) and active doctor supervision (Feasibility).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Implement smart input validation (e.g., flag impossible vitals) and an anomaly detection layer.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AI Trust &amp; Validation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AI accuracy testing with doctors (M5) and using doctor-approved recommendations (M4).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Adopt Explainable AI (XAI) to show simple context for predictions (e.g., "Risk high due to...").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Contextual Relevance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AI built specifically for pregnancy, infant, and elderly risk models (M4).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Focus initial AI training on a Minimum Viable Dataset (M1) from the pilot region first.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5" name="Google Shape;105;p14"/>
          <p:cNvSpPr/>
          <p:nvPr/>
        </p:nvSpPr>
        <p:spPr>
          <a:xfrm>
            <a:off x="571500" y="2938462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3333750" y="2938462"/>
            <a:ext cx="41433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7477125" y="2938462"/>
            <a:ext cx="41433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571500" y="3767137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3333750" y="3767137"/>
            <a:ext cx="41433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7477125" y="3767137"/>
            <a:ext cx="41433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571500" y="4595812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3333750" y="4595812"/>
            <a:ext cx="41433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7477125" y="4595812"/>
            <a:ext cx="41433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295275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Mitigation Strategies: Data &amp; AI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0" name="Google Shape;120;p15"/>
          <p:cNvGraphicFramePr/>
          <p:nvPr/>
        </p:nvGraphicFramePr>
        <p:xfrm>
          <a:off x="571500" y="1995487"/>
          <a:ext cx="11049000" cy="38195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4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Challenge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Core Strategy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Funding/Partnership Tactic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4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Initial Development Cost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Develop a lean MVP (M1-M6) using open-source technology to keep initial costs low.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Secure "Innovation Grants" for the pilot. Aggressively pursue "Tech for Good" programs (AWS, Google) for free cloud credits.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4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Field Hardware &amp; Data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Pilot (M5) to establish a clear cost-per-user, which informs grant applications.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Engage telecom/hardware companies for **CSR partnerships**. Co-author proposals with government to bundle device costs.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4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Long-Term Sustainability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Track "Impact Metrics" (M6) to build a powerful **Social Return on Investment (SROI)** report.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Use the SROI report to secure long-term operational grants from government (e.g., NHM) &amp; large philanthropic foundations.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1" name="Google Shape;121;p15"/>
          <p:cNvSpPr/>
          <p:nvPr/>
        </p:nvSpPr>
        <p:spPr>
          <a:xfrm>
            <a:off x="571500" y="2552700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3333750" y="2552700"/>
            <a:ext cx="41433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7477125" y="2552700"/>
            <a:ext cx="41433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571500" y="3638550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3333750" y="3638550"/>
            <a:ext cx="41433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7477125" y="3638550"/>
            <a:ext cx="41433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571500" y="4724400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3333750" y="4724400"/>
            <a:ext cx="41433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7477125" y="4724400"/>
            <a:ext cx="41433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295275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Mitigation Strategies: NGO Funding &amp; Sustainability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1163</TotalTime>
  <Words>1347</Words>
  <Application>Microsoft Office PowerPoint</Application>
  <PresentationFormat>Widescreen</PresentationFormat>
  <Paragraphs>136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Aptos</vt:lpstr>
      <vt:lpstr>Aptos Display</vt:lpstr>
      <vt:lpstr>Arial</vt:lpstr>
      <vt:lpstr>Bahnschrift SemiBold</vt:lpstr>
      <vt:lpstr>Bodoni MT</vt:lpstr>
      <vt:lpstr>Calibri</vt:lpstr>
      <vt:lpstr>Lato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CHINMAY MOHPATRA</dc:creator>
  <cp:lastModifiedBy>CHINMAY MOHPATRA</cp:lastModifiedBy>
  <cp:revision>1</cp:revision>
  <dcterms:created xsi:type="dcterms:W3CDTF">2025-11-14T06:56:04Z</dcterms:created>
  <dcterms:modified xsi:type="dcterms:W3CDTF">2025-11-15T02:19:20Z</dcterms:modified>
</cp:coreProperties>
</file>